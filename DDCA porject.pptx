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826" y="8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36D3DC"/>
                </a:solidFill>
                <a:latin typeface="Aptos"/>
              </a:defRPr>
            </a:pPr>
            <a:r>
              <a:t>COMPUTER ORGANIZATION &amp; ARCHITECTURE  |  B.TECH · YEAR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11430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F2F6FC"/>
                </a:solidFill>
                <a:latin typeface="Aptos"/>
              </a:defRPr>
            </a:pPr>
            <a:r>
              <a:t>4-Bit ALU Architecture</a:t>
            </a:r>
          </a:p>
          <a:p>
            <a:pPr>
              <a:spcAft>
                <a:spcPts val="500"/>
              </a:spcAft>
              <a:defRPr sz="3400" b="1">
                <a:solidFill>
                  <a:srgbClr val="F2F6FC"/>
                </a:solidFill>
                <a:latin typeface="Aptos"/>
              </a:defRPr>
            </a:pPr>
            <a:r>
              <a:t>and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743200"/>
            <a:ext cx="98755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B1BED3"/>
                </a:solidFill>
                <a:latin typeface="Aptos"/>
              </a:defRPr>
            </a:pPr>
            <a:r>
              <a:t>From binary logic to a RISC-V processor datapath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069080"/>
            <a:ext cx="2057400" cy="105156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4242816"/>
            <a:ext cx="182880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6D3DC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590288"/>
            <a:ext cx="18288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F2F6FC"/>
                </a:solidFill>
                <a:latin typeface="Aptos"/>
              </a:defRPr>
            </a:pPr>
            <a:r>
              <a:t>A[3:0], B[3:0]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4069080"/>
            <a:ext cx="2057400" cy="105156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47288" y="4242816"/>
            <a:ext cx="182880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6D3DC"/>
                </a:solidFill>
                <a:latin typeface="Aptos"/>
              </a:defRPr>
            </a:pPr>
            <a:r>
              <a:t>ALU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4590288"/>
            <a:ext cx="18288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F2F6FC"/>
                </a:solidFill>
                <a:latin typeface="Aptos"/>
              </a:defRPr>
            </a:pPr>
            <a:r>
              <a:t>Arithmetic +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4069080"/>
            <a:ext cx="2057400" cy="105156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61888" y="4242816"/>
            <a:ext cx="182880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6D3DC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4590288"/>
            <a:ext cx="18288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F2F6FC"/>
                </a:solidFill>
                <a:latin typeface="Aptos"/>
              </a:defRPr>
            </a:pPr>
            <a:r>
              <a:t>Operation select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4069080"/>
            <a:ext cx="2057400" cy="105156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76488" y="4242816"/>
            <a:ext cx="182880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6D3DC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4590288"/>
            <a:ext cx="18288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F2F6FC"/>
                </a:solidFill>
                <a:latin typeface="Aptos"/>
              </a:defRPr>
            </a:pPr>
            <a:r>
              <a:t>F[3:0] + flags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4370832"/>
            <a:ext cx="3200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FC1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370832"/>
            <a:ext cx="3200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FC1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370832"/>
            <a:ext cx="3200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FC1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B1BED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257800"/>
            <a:ext cx="10607040" cy="1051560"/>
          </a:xfrm>
          <a:prstGeom prst="round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36576" rtlCol="0" anchor="ctr"/>
          <a:lstStyle/>
          <a:p>
            <a:pPr algn="l">
              <a:spcAft>
                <a:spcPts val="300"/>
              </a:spcAft>
              <a:defRPr sz="1000" b="1">
                <a:solidFill>
                  <a:srgbClr val="36D3DC"/>
                </a:solidFill>
                <a:latin typeface="Aptos"/>
              </a:defRPr>
            </a:pPr>
            <a:r>
              <a:t>PRESENTED BY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F2F6FC"/>
                </a:solidFill>
                <a:latin typeface="Aptos"/>
              </a:defRPr>
            </a:pPr>
            <a:r>
              <a:t>Harshini — 2620080087   |   Bhavya — 2620030582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F2F6FC"/>
                </a:solidFill>
                <a:latin typeface="Aptos"/>
              </a:defRPr>
            </a:pPr>
            <a:r>
              <a:t>Raghavendra — 2620030549   |   Sreevalli — 2620030535</a:t>
            </a:r>
          </a:p>
          <a:p>
            <a:pPr algn="l">
              <a:defRPr sz="1200" b="1">
                <a:solidFill>
                  <a:srgbClr val="36D3DC"/>
                </a:solidFill>
                <a:latin typeface="Aptos"/>
              </a:defRPr>
            </a:pPr>
            <a:r>
              <a:t>KL UNIVERSITY BACHUPALLY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36D3DC"/>
                </a:solidFill>
                <a:latin typeface="Aptos"/>
              </a:defRPr>
            </a:pPr>
            <a:r>
              <a:t>01 · CO1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1556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2F6FC"/>
                </a:solidFill>
                <a:latin typeface="Aptos"/>
              </a:defRPr>
            </a:pPr>
            <a:r>
              <a:t>Computer organization and binary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BED3"/>
                </a:solidFill>
                <a:latin typeface="Aptos"/>
              </a:defRPr>
            </a:pPr>
            <a:r>
              <a:t>The ALU is one part of the CPU, and binary values are the data it processes.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B1BED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3474720" cy="1828800"/>
          </a:xfrm>
          <a:prstGeom prst="round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64008" cy="1828800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737360"/>
            <a:ext cx="3127248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36D3DC"/>
                </a:solidFill>
                <a:latin typeface="Aptos"/>
              </a:defRPr>
            </a:pPr>
            <a:r>
              <a:t>Basic computer blocks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130552"/>
            <a:ext cx="3127248" cy="120700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Input → CPU ↔ Memory → Output</a:t>
            </a:r>
          </a:p>
          <a:p>
            <a:pPr>
              <a:spcAft>
                <a:spcPts val="5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CPU includes the ALU, Control Unit, and registers.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474720" cy="1828800"/>
          </a:xfrm>
          <a:prstGeom prst="round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64008" cy="1828800"/>
          </a:xfrm>
          <a:prstGeom prst="rect">
            <a:avLst/>
          </a:prstGeom>
          <a:solidFill>
            <a:srgbClr val="FFC15C"/>
          </a:solidFill>
          <a:ln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737360"/>
            <a:ext cx="3127248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C15C"/>
                </a:solidFill>
                <a:latin typeface="Aptos"/>
              </a:defRPr>
            </a:pPr>
            <a:r>
              <a:t>4-bit representation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30552"/>
            <a:ext cx="3127248" cy="120700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A 4-bit unsigned value ranges from 0 to 15.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Example: 1010₂ = 10₁₀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00200"/>
            <a:ext cx="3474720" cy="1828800"/>
          </a:xfrm>
          <a:prstGeom prst="round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600200"/>
            <a:ext cx="64008" cy="1828800"/>
          </a:xfrm>
          <a:prstGeom prst="rect">
            <a:avLst/>
          </a:prstGeom>
          <a:solidFill>
            <a:srgbClr val="69DCA0"/>
          </a:solidFill>
          <a:ln>
            <a:solidFill>
              <a:srgbClr val="69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737360"/>
            <a:ext cx="3127248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69DCA0"/>
                </a:solidFill>
                <a:latin typeface="Aptos"/>
              </a:defRPr>
            </a:pPr>
            <a:r>
              <a:t>Logic gates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30552"/>
            <a:ext cx="3127248" cy="120700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AND, OR, NOT, and XOR process bits.</a:t>
            </a:r>
          </a:p>
          <a:p>
            <a:pPr>
              <a:spcAft>
                <a:spcPts val="5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Gate outputs form the logic section of an ALU.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86200"/>
            <a:ext cx="1069848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36D3DC"/>
                </a:solidFill>
                <a:latin typeface="Aptos"/>
              </a:defRPr>
            </a:pPr>
            <a:r>
              <a:t>Example 4-bit word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4526280"/>
            <a:ext cx="960120" cy="77724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28800" y="4645152"/>
            <a:ext cx="96012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2600" b="1">
                <a:solidFill>
                  <a:srgbClr val="F2F6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4526280"/>
            <a:ext cx="960120" cy="77724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46120" y="4645152"/>
            <a:ext cx="96012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2600" b="1">
                <a:solidFill>
                  <a:srgbClr val="F2F6FC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4526280"/>
            <a:ext cx="960120" cy="77724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4645152"/>
            <a:ext cx="96012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2600" b="1">
                <a:solidFill>
                  <a:srgbClr val="F2F6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4526280"/>
            <a:ext cx="960120" cy="77724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80760" y="4645152"/>
            <a:ext cx="96012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2600" b="1">
                <a:solidFill>
                  <a:srgbClr val="F2F6FC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572000"/>
            <a:ext cx="292608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BED3"/>
                </a:solidFill>
                <a:latin typeface="Aptos"/>
              </a:defRPr>
            </a:pPr>
            <a:r>
              <a:t>MSB                     LSB</a:t>
            </a:r>
          </a:p>
          <a:p>
            <a:pPr>
              <a:spcAft>
                <a:spcPts val="500"/>
              </a:spcAft>
              <a:defRPr sz="1200" b="0">
                <a:solidFill>
                  <a:srgbClr val="B1BED3"/>
                </a:solidFill>
                <a:latin typeface="Aptos"/>
              </a:defRPr>
            </a:pPr>
            <a:r>
              <a:t>Most significant      Least significant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36D3DC"/>
                </a:solidFill>
                <a:latin typeface="Aptos"/>
              </a:defRPr>
            </a:pPr>
            <a:r>
              <a:t>02 · CO2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1556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2F6FC"/>
                </a:solidFill>
                <a:latin typeface="Aptos"/>
              </a:defRPr>
            </a:pPr>
            <a:r>
              <a:t>4-bit ALU architecture and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BED3"/>
                </a:solidFill>
                <a:latin typeface="Aptos"/>
              </a:defRPr>
            </a:pPr>
            <a:r>
              <a:t>Combinational circuits calculate candidate results; a multiplexer selects one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B1BED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965960" cy="105156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169164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2F6FC"/>
                </a:solidFill>
                <a:latin typeface="Aptos"/>
              </a:defRPr>
            </a:pPr>
            <a:r>
              <a:t>A[3:0]</a:t>
            </a:r>
          </a:p>
          <a:p>
            <a:pPr algn="ctr">
              <a:spcAft>
                <a:spcPts val="500"/>
              </a:spcAft>
              <a:defRPr sz="1800" b="1">
                <a:solidFill>
                  <a:srgbClr val="F2F6FC"/>
                </a:solidFill>
                <a:latin typeface="Aptos"/>
              </a:defRPr>
            </a:pPr>
            <a:r>
              <a:t>B[3:0]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157984"/>
            <a:ext cx="4114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FC1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1508760"/>
            <a:ext cx="2743200" cy="1645920"/>
          </a:xfrm>
          <a:prstGeom prst="round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3552" y="1719072"/>
            <a:ext cx="242316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6D3DC"/>
                </a:solidFill>
                <a:latin typeface="Aptos"/>
              </a:defRPr>
            </a:pPr>
            <a:r>
              <a:t>ARITHMETIC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2148840"/>
            <a:ext cx="242316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Adder / subtractor</a:t>
            </a:r>
          </a:p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(full-adder stages)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3474720"/>
            <a:ext cx="2743200" cy="1417320"/>
          </a:xfrm>
          <a:prstGeom prst="round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73552" y="3657600"/>
            <a:ext cx="242316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69DCA0"/>
                </a:solidFill>
                <a:latin typeface="Aptos"/>
              </a:defRPr>
            </a:pPr>
            <a:r>
              <a:t>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4050791"/>
            <a:ext cx="24231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AND · OR · XOR · NOT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148840"/>
            <a:ext cx="4114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FC1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148840"/>
            <a:ext cx="1965960" cy="114300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331720"/>
            <a:ext cx="169164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2F6FC"/>
                </a:solidFill>
                <a:latin typeface="Aptos"/>
              </a:defRPr>
            </a:pPr>
            <a:r>
              <a:t>MUX</a:t>
            </a:r>
          </a:p>
          <a:p>
            <a:pPr algn="ctr">
              <a:spcAft>
                <a:spcPts val="500"/>
              </a:spcAft>
              <a:defRPr sz="1500" b="1">
                <a:solidFill>
                  <a:srgbClr val="F2F6FC"/>
                </a:solidFill>
                <a:latin typeface="Aptos"/>
              </a:defRPr>
            </a:pPr>
            <a:r>
              <a:t>Select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514600"/>
            <a:ext cx="4114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FC1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2148840"/>
            <a:ext cx="2377440" cy="114300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0" y="2331720"/>
            <a:ext cx="21031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2F6FC"/>
                </a:solidFill>
                <a:latin typeface="Aptos"/>
              </a:defRPr>
            </a:pPr>
            <a:r>
              <a:t>F[3:0]</a:t>
            </a:r>
          </a:p>
          <a:p>
            <a:pPr algn="ctr">
              <a:spcAft>
                <a:spcPts val="500"/>
              </a:spcAft>
              <a:defRPr sz="1500" b="1">
                <a:solidFill>
                  <a:srgbClr val="F2F6FC"/>
                </a:solidFill>
                <a:latin typeface="Aptos"/>
              </a:defRPr>
            </a:pPr>
            <a:r>
              <a:t>Status flags*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3977639"/>
            <a:ext cx="4937760" cy="822960"/>
          </a:xfrm>
          <a:prstGeom prst="round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4169663"/>
            <a:ext cx="45720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6D3DC"/>
                </a:solidFill>
                <a:latin typeface="Aptos"/>
              </a:defRPr>
            </a:pPr>
            <a:r>
              <a:t>Control Unit → operation-select 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23560"/>
            <a:ext cx="106984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1BED3"/>
                </a:solidFill>
                <a:latin typeface="Aptos"/>
              </a:defRPr>
            </a:pPr>
            <a:r>
              <a:t>*Flags depend on the design. Common examples: Carry and Zero; signed designs may also track Negative and Overflow.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36D3DC"/>
                </a:solidFill>
                <a:latin typeface="Aptos"/>
              </a:defRPr>
            </a:pPr>
            <a:r>
              <a:t>02 · CO2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1556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2F6FC"/>
                </a:solidFill>
                <a:latin typeface="Aptos"/>
              </a:defRPr>
            </a:pPr>
            <a:r>
              <a:t>Arithmetic and logic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BED3"/>
                </a:solidFill>
                <a:latin typeface="Aptos"/>
              </a:defRPr>
            </a:pPr>
            <a:r>
              <a:t>This example uses a 2-bit operation selector; the chosen design supports four core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B1BED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1325880" cy="603504"/>
          </a:xfrm>
          <a:prstGeom prst="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28800"/>
            <a:ext cx="1197864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36D3DC"/>
                </a:solidFill>
                <a:latin typeface="Aptos"/>
              </a:defRPr>
            </a:pPr>
            <a:r>
              <a:t>S1 S0</a:t>
            </a:r>
          </a:p>
        </p:txBody>
      </p:sp>
      <p:sp>
        <p:nvSpPr>
          <p:cNvPr id="8" name="Rectangle 7"/>
          <p:cNvSpPr/>
          <p:nvPr/>
        </p:nvSpPr>
        <p:spPr>
          <a:xfrm>
            <a:off x="2066543" y="1737360"/>
            <a:ext cx="1554480" cy="603504"/>
          </a:xfrm>
          <a:prstGeom prst="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30551" y="1828800"/>
            <a:ext cx="1426464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36D3DC"/>
                </a:solidFill>
                <a:latin typeface="Aptos"/>
              </a:defRPr>
            </a:pPr>
            <a:r>
              <a:t>Operation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75887" y="1737360"/>
            <a:ext cx="5212080" cy="603504"/>
          </a:xfrm>
          <a:prstGeom prst="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39896" y="1828800"/>
            <a:ext cx="5084064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36D3DC"/>
                </a:solidFill>
                <a:latin typeface="Aptos"/>
              </a:defRPr>
            </a:pPr>
            <a:r>
              <a:t>Example (A = 1010, B = 0011)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42832" y="1737360"/>
            <a:ext cx="1463040" cy="603504"/>
          </a:xfrm>
          <a:prstGeom prst="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06840" y="1828800"/>
            <a:ext cx="1335024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36D3DC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404872"/>
            <a:ext cx="1325880" cy="603504"/>
          </a:xfrm>
          <a:prstGeom prst="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2496312"/>
            <a:ext cx="1197864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0 0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66543" y="2404872"/>
            <a:ext cx="1554480" cy="603504"/>
          </a:xfrm>
          <a:prstGeom prst="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30551" y="2496312"/>
            <a:ext cx="1426464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AND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404872"/>
            <a:ext cx="5212080" cy="603504"/>
          </a:xfrm>
          <a:prstGeom prst="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39896" y="2496312"/>
            <a:ext cx="5084064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1010 AND 0011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42832" y="2404872"/>
            <a:ext cx="1463040" cy="603504"/>
          </a:xfrm>
          <a:prstGeom prst="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06840" y="2496312"/>
            <a:ext cx="1335024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0010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72384"/>
            <a:ext cx="1325880" cy="603504"/>
          </a:xfrm>
          <a:prstGeom prst="rect">
            <a:avLst/>
          </a:prstGeom>
          <a:solidFill>
            <a:srgbClr val="141B2B"/>
          </a:solidFill>
          <a:ln>
            <a:solidFill>
              <a:srgbClr val="141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3163824"/>
            <a:ext cx="1197864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0 1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66543" y="3072384"/>
            <a:ext cx="1554480" cy="603504"/>
          </a:xfrm>
          <a:prstGeom prst="rect">
            <a:avLst/>
          </a:prstGeom>
          <a:solidFill>
            <a:srgbClr val="141B2B"/>
          </a:solidFill>
          <a:ln>
            <a:solidFill>
              <a:srgbClr val="141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130551" y="3163824"/>
            <a:ext cx="1426464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75887" y="3072384"/>
            <a:ext cx="5212080" cy="603504"/>
          </a:xfrm>
          <a:prstGeom prst="rect">
            <a:avLst/>
          </a:prstGeom>
          <a:solidFill>
            <a:srgbClr val="141B2B"/>
          </a:solidFill>
          <a:ln>
            <a:solidFill>
              <a:srgbClr val="141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39896" y="3163824"/>
            <a:ext cx="5084064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1010 OR 0011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2832" y="3072384"/>
            <a:ext cx="1463040" cy="603504"/>
          </a:xfrm>
          <a:prstGeom prst="rect">
            <a:avLst/>
          </a:prstGeom>
          <a:solidFill>
            <a:srgbClr val="141B2B"/>
          </a:solidFill>
          <a:ln>
            <a:solidFill>
              <a:srgbClr val="141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06840" y="3163824"/>
            <a:ext cx="1335024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1011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739896"/>
            <a:ext cx="1325880" cy="603504"/>
          </a:xfrm>
          <a:prstGeom prst="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8" y="3831335"/>
            <a:ext cx="1197864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1 0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66543" y="3739896"/>
            <a:ext cx="1554480" cy="603504"/>
          </a:xfrm>
          <a:prstGeom prst="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130551" y="3831335"/>
            <a:ext cx="1426464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ADD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75887" y="3739896"/>
            <a:ext cx="5212080" cy="603504"/>
          </a:xfrm>
          <a:prstGeom prst="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739896" y="3831335"/>
            <a:ext cx="5084064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1010 + 0011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42832" y="3739896"/>
            <a:ext cx="1463040" cy="603504"/>
          </a:xfrm>
          <a:prstGeom prst="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006840" y="3831335"/>
            <a:ext cx="1335024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1101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407408"/>
            <a:ext cx="1325880" cy="603504"/>
          </a:xfrm>
          <a:prstGeom prst="rect">
            <a:avLst/>
          </a:prstGeom>
          <a:solidFill>
            <a:srgbClr val="141B2B"/>
          </a:solidFill>
          <a:ln>
            <a:solidFill>
              <a:srgbClr val="141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9808" y="4498848"/>
            <a:ext cx="1197864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1 1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66543" y="4407408"/>
            <a:ext cx="1554480" cy="603504"/>
          </a:xfrm>
          <a:prstGeom prst="rect">
            <a:avLst/>
          </a:prstGeom>
          <a:solidFill>
            <a:srgbClr val="141B2B"/>
          </a:solidFill>
          <a:ln>
            <a:solidFill>
              <a:srgbClr val="141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130551" y="4498848"/>
            <a:ext cx="1426464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SUB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75887" y="4407408"/>
            <a:ext cx="5212080" cy="603504"/>
          </a:xfrm>
          <a:prstGeom prst="rect">
            <a:avLst/>
          </a:prstGeom>
          <a:solidFill>
            <a:srgbClr val="141B2B"/>
          </a:solidFill>
          <a:ln>
            <a:solidFill>
              <a:srgbClr val="141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739896" y="4498848"/>
            <a:ext cx="5084064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1010 − 0011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42832" y="4407408"/>
            <a:ext cx="1463040" cy="603504"/>
          </a:xfrm>
          <a:prstGeom prst="rect">
            <a:avLst/>
          </a:prstGeom>
          <a:solidFill>
            <a:srgbClr val="141B2B"/>
          </a:solidFill>
          <a:ln>
            <a:solidFill>
              <a:srgbClr val="141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06840" y="4498848"/>
            <a:ext cx="1335024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0111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5349240"/>
            <a:ext cx="5212080" cy="731520"/>
          </a:xfrm>
          <a:prstGeom prst="round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31520" y="5349240"/>
            <a:ext cx="64008" cy="731520"/>
          </a:xfrm>
          <a:prstGeom prst="rect">
            <a:avLst/>
          </a:prstGeom>
          <a:solidFill>
            <a:srgbClr val="FFC15C"/>
          </a:solidFill>
          <a:ln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2075" y="5385816"/>
            <a:ext cx="4864608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C15C"/>
                </a:solidFill>
                <a:latin typeface="Aptos"/>
              </a:defRPr>
            </a:pPr>
            <a:r>
              <a:rPr dirty="0"/>
              <a:t>Addition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681158"/>
            <a:ext cx="4864608" cy="109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rPr dirty="0"/>
              <a:t>1010₂ (10) + 0011₂ (3) = 1101₂ (13)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5349240"/>
            <a:ext cx="5212080" cy="731520"/>
          </a:xfrm>
          <a:prstGeom prst="round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17920" y="5349240"/>
            <a:ext cx="64008" cy="731520"/>
          </a:xfrm>
          <a:prstGeom prst="rect">
            <a:avLst/>
          </a:prstGeom>
          <a:solidFill>
            <a:srgbClr val="69DCA0"/>
          </a:solidFill>
          <a:ln>
            <a:solidFill>
              <a:srgbClr val="69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19088" y="5399532"/>
            <a:ext cx="4864608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69DCA0"/>
                </a:solidFill>
                <a:latin typeface="Aptos"/>
              </a:defRPr>
            </a:pPr>
            <a:r>
              <a:rPr dirty="0"/>
              <a:t>Subtraction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91656" y="5731002"/>
            <a:ext cx="4864608" cy="109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rPr dirty="0"/>
              <a:t>1010₂ (10) − 0011₂ (3) = 0111₂ (7)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36D3DC"/>
                </a:solidFill>
                <a:latin typeface="Aptos"/>
              </a:defRPr>
            </a:pPr>
            <a:r>
              <a:t>03 · CO3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1556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2F6FC"/>
                </a:solidFill>
                <a:latin typeface="Aptos"/>
              </a:defRPr>
            </a:pPr>
            <a:r>
              <a:t>Sequential logic: storing and moving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BED3"/>
                </a:solidFill>
                <a:latin typeface="Aptos"/>
              </a:defRPr>
            </a:pPr>
            <a:r>
              <a:t>Combinational logic calculates; sequential logic remembers state using clocked storage.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B1BED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20440" cy="1828800"/>
          </a:xfrm>
          <a:prstGeom prst="round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1828800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783080"/>
            <a:ext cx="3172968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36D3DC"/>
                </a:solidFill>
                <a:latin typeface="Aptos"/>
              </a:defRPr>
            </a:pPr>
            <a:r>
              <a:t>Flip-flops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76272"/>
            <a:ext cx="3172968" cy="120700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Store one bit. Common types include D and JK flip-flops.</a:t>
            </a:r>
          </a:p>
          <a:p>
            <a:pPr>
              <a:spcAft>
                <a:spcPts val="5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A clock coordinates when state changes.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1828800"/>
          </a:xfrm>
          <a:prstGeom prst="round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64008" cy="1828800"/>
          </a:xfrm>
          <a:prstGeom prst="rect">
            <a:avLst/>
          </a:prstGeom>
          <a:solidFill>
            <a:srgbClr val="FFC15C"/>
          </a:solidFill>
          <a:ln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783080"/>
            <a:ext cx="3172968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C15C"/>
                </a:solidFill>
                <a:latin typeface="Aptos"/>
              </a:defRPr>
            </a:pPr>
            <a:r>
              <a:t>Registers and shift registers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76272"/>
            <a:ext cx="3172968" cy="120700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2F6FC"/>
                </a:solidFill>
                <a:latin typeface="Aptos"/>
              </a:defRPr>
            </a:pPr>
            <a:r>
              <a:t>A register stores a multi-bit value. A shift register moves bits left or right on clock events.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520440" cy="1828800"/>
          </a:xfrm>
          <a:prstGeom prst="round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1828800"/>
          </a:xfrm>
          <a:prstGeom prst="rect">
            <a:avLst/>
          </a:prstGeom>
          <a:solidFill>
            <a:srgbClr val="69DCA0"/>
          </a:solidFill>
          <a:ln>
            <a:solidFill>
              <a:srgbClr val="69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783080"/>
            <a:ext cx="3172968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69DCA0"/>
                </a:solidFill>
                <a:latin typeface="Aptos"/>
              </a:defRPr>
            </a:pPr>
            <a:r>
              <a:t>Counters, PC and FSMs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76272"/>
            <a:ext cx="3172968" cy="120700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Counters track steps; the Program Counter stores the next instruction address; an FSM controls state transitions.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251960"/>
            <a:ext cx="2468880" cy="86868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" y="4453128"/>
            <a:ext cx="224028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2F6FC"/>
                </a:solidFill>
                <a:latin typeface="Aptos"/>
              </a:defRPr>
            </a:pPr>
            <a:r>
              <a:t>Operand register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4251960"/>
            <a:ext cx="2468880" cy="86868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44568" y="4453128"/>
            <a:ext cx="224028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2F6FC"/>
                </a:solidFill>
                <a:latin typeface="Aptos"/>
              </a:defRPr>
            </a:pPr>
            <a:r>
              <a:t>4-bit ALU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4251960"/>
            <a:ext cx="2468880" cy="86868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65007" y="4453128"/>
            <a:ext cx="224028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2F6FC"/>
                </a:solidFill>
                <a:latin typeface="Aptos"/>
              </a:defRPr>
            </a:pPr>
            <a:r>
              <a:t>Result register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507992"/>
            <a:ext cx="59436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FFC1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507992"/>
            <a:ext cx="59436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FFC1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577840"/>
            <a:ext cx="100584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B1BED3"/>
                </a:solidFill>
                <a:latin typeface="Aptos"/>
              </a:defRPr>
            </a:pPr>
            <a:r>
              <a:t>Clocked registers make it possible to use the ALU repeatedly across synchronized processor steps.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36D3DC"/>
                </a:solidFill>
                <a:latin typeface="Aptos"/>
              </a:defRPr>
            </a:pPr>
            <a:r>
              <a:t>04 · CO4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1556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2F6FC"/>
                </a:solidFill>
                <a:latin typeface="Aptos"/>
              </a:defRPr>
            </a:pPr>
            <a:r>
              <a:t>Register file and memory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BED3"/>
                </a:solidFill>
                <a:latin typeface="Aptos"/>
              </a:defRPr>
            </a:pPr>
            <a:r>
              <a:t>The ALU reads operands from registers and sends its result back to the datapath.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B1BED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063240" cy="137160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76272"/>
            <a:ext cx="2788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6D3DC"/>
                </a:solidFill>
                <a:latin typeface="Aptos"/>
              </a:defRPr>
            </a:pPr>
            <a:r>
              <a:t>REGISTER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27889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Read rs1 and rs2</a:t>
            </a:r>
          </a:p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Write 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965960"/>
            <a:ext cx="3063240" cy="137160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176272"/>
            <a:ext cx="2788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6D3DC"/>
                </a:solidFill>
                <a:latin typeface="Aptos"/>
              </a:defRPr>
            </a:pPr>
            <a:r>
              <a:t>4-BIT ALU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06040"/>
            <a:ext cx="27889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Arithmetic or</a:t>
            </a:r>
          </a:p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logic operation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965960"/>
            <a:ext cx="3063240" cy="137160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49640" y="2176272"/>
            <a:ext cx="2788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6D3DC"/>
                </a:solidFill>
                <a:latin typeface="Aptos"/>
              </a:defRPr>
            </a:pPr>
            <a:r>
              <a:t>WRITE-BACK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606040"/>
            <a:ext cx="27889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Result returns</a:t>
            </a:r>
          </a:p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to destination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468880"/>
            <a:ext cx="5486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FC1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468880"/>
            <a:ext cx="5486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FC1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106984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36D3DC"/>
                </a:solidFill>
                <a:latin typeface="Aptos"/>
              </a:defRPr>
            </a:pPr>
            <a:r>
              <a:t>Memory hierarchy (generally fastest to slowest)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34840"/>
            <a:ext cx="2560320" cy="1188720"/>
          </a:xfrm>
          <a:prstGeom prst="round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4434840"/>
            <a:ext cx="64008" cy="1188720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4572000"/>
            <a:ext cx="2212848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36D3DC"/>
                </a:solidFill>
                <a:latin typeface="Aptos"/>
              </a:defRPr>
            </a:pPr>
            <a:r>
              <a:t>Registers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965192"/>
            <a:ext cx="2212848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2F6FC"/>
                </a:solidFill>
                <a:latin typeface="Aptos"/>
              </a:defRPr>
            </a:pPr>
            <a:r>
              <a:t>Very small, fastest CPU storage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4434840"/>
            <a:ext cx="2560320" cy="1188720"/>
          </a:xfrm>
          <a:prstGeom prst="round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520440" y="4434840"/>
            <a:ext cx="64008" cy="1188720"/>
          </a:xfrm>
          <a:prstGeom prst="rect">
            <a:avLst/>
          </a:prstGeom>
          <a:solidFill>
            <a:srgbClr val="FFC15C"/>
          </a:solidFill>
          <a:ln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21608" y="4572000"/>
            <a:ext cx="2212848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C15C"/>
                </a:solidFill>
                <a:latin typeface="Aptos"/>
              </a:defRPr>
            </a:pPr>
            <a:r>
              <a:t>Cache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21608" y="4965192"/>
            <a:ext cx="2212848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2F6FC"/>
                </a:solidFill>
                <a:latin typeface="Aptos"/>
              </a:defRPr>
            </a:pPr>
            <a:r>
              <a:t>Keeps frequently used data close to CPU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434840"/>
            <a:ext cx="2560320" cy="1188720"/>
          </a:xfrm>
          <a:prstGeom prst="round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55080" y="4434840"/>
            <a:ext cx="64008" cy="1188720"/>
          </a:xfrm>
          <a:prstGeom prst="rect">
            <a:avLst/>
          </a:prstGeom>
          <a:solidFill>
            <a:srgbClr val="69DCA0"/>
          </a:solidFill>
          <a:ln>
            <a:solidFill>
              <a:srgbClr val="69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56248" y="4572000"/>
            <a:ext cx="2212848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69DCA0"/>
                </a:solidFill>
                <a:latin typeface="Aptos"/>
              </a:defRPr>
            </a:pPr>
            <a:r>
              <a:t>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6248" y="4965192"/>
            <a:ext cx="2212848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2F6FC"/>
                </a:solidFill>
                <a:latin typeface="Aptos"/>
              </a:defRPr>
            </a:pPr>
            <a:r>
              <a:t>Main memory for active programs and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434840"/>
            <a:ext cx="2560320" cy="1188720"/>
          </a:xfrm>
          <a:prstGeom prst="round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89720" y="4434840"/>
            <a:ext cx="64008" cy="1188720"/>
          </a:xfrm>
          <a:prstGeom prst="rect">
            <a:avLst/>
          </a:prstGeom>
          <a:solidFill>
            <a:srgbClr val="FF7882"/>
          </a:solidFill>
          <a:ln>
            <a:solidFill>
              <a:srgbClr val="FF7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90888" y="4572000"/>
            <a:ext cx="2212848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7882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90888" y="4965192"/>
            <a:ext cx="2212848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2F6FC"/>
                </a:solidFill>
                <a:latin typeface="Aptos"/>
              </a:defRPr>
            </a:pPr>
            <a:r>
              <a:t>Persistent SSD / hard-drive storage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897880"/>
            <a:ext cx="106984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BED3"/>
                </a:solidFill>
                <a:latin typeface="Aptos"/>
              </a:defRPr>
            </a:pPr>
            <a:r>
              <a:t>The ALU computes values; memory and register structures supply, store, and transfer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36D3DC"/>
                </a:solidFill>
                <a:latin typeface="Aptos"/>
              </a:defRPr>
            </a:pPr>
            <a:r>
              <a:t>05 · CO5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1556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2F6FC"/>
                </a:solidFill>
                <a:latin typeface="Aptos"/>
              </a:defRPr>
            </a:pPr>
            <a:r>
              <a:t>RISC-V instructions and ALU datapath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BED3"/>
                </a:solidFill>
                <a:latin typeface="Aptos"/>
              </a:defRPr>
            </a:pPr>
            <a:r>
              <a:t>RISC-V instructions use control signals to guide data through the processor.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B1BED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1965960" cy="105156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901952"/>
            <a:ext cx="17830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36D3DC"/>
                </a:solidFill>
                <a:latin typeface="Aptos"/>
              </a:defRPr>
            </a:pPr>
            <a:r>
              <a:t>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267712"/>
            <a:ext cx="1746504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F2F6FC"/>
                </a:solidFill>
                <a:latin typeface="Aptos"/>
              </a:defRPr>
            </a:pPr>
            <a:r>
              <a:t>Fetch instruction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87752" y="2103120"/>
            <a:ext cx="292608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C1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79" y="1737360"/>
            <a:ext cx="1965960" cy="105156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0" y="1901952"/>
            <a:ext cx="17830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36D3DC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267712"/>
            <a:ext cx="1746504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F2F6FC"/>
                </a:solidFill>
                <a:latin typeface="Aptos"/>
              </a:defRPr>
            </a:pPr>
            <a:r>
              <a:t>Decode + read registers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2103120"/>
            <a:ext cx="292608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C1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1737360"/>
            <a:ext cx="1965960" cy="105156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49240" y="1901952"/>
            <a:ext cx="17830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36D3DC"/>
                </a:solidFill>
                <a:latin typeface="Aptos"/>
              </a:defRPr>
            </a:pPr>
            <a:r>
              <a:t>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2267712"/>
            <a:ext cx="1746504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F2F6FC"/>
                </a:solidFill>
                <a:latin typeface="Aptos"/>
              </a:defRPr>
            </a:pPr>
            <a:r>
              <a:t>ALU executes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1192" y="2103120"/>
            <a:ext cx="292608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C1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19" y="1737360"/>
            <a:ext cx="1965960" cy="105156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59" y="1901952"/>
            <a:ext cx="17830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36D3DC"/>
                </a:solidFill>
                <a:latin typeface="Aptos"/>
              </a:defRPr>
            </a:pPr>
            <a:r>
              <a:t>MEM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7" y="2267712"/>
            <a:ext cx="1746504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F2F6FC"/>
                </a:solidFill>
                <a:latin typeface="Aptos"/>
              </a:defRPr>
            </a:pPr>
            <a:r>
              <a:t>Access data memory if needed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2911" y="2103120"/>
            <a:ext cx="292608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C1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1737360"/>
            <a:ext cx="1965960" cy="105156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12680" y="1901952"/>
            <a:ext cx="17830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36D3DC"/>
                </a:solidFill>
                <a:latin typeface="Aptos"/>
              </a:defRPr>
            </a:pPr>
            <a:r>
              <a:t>WB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0967" y="2267712"/>
            <a:ext cx="1746504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F2F6FC"/>
                </a:solidFill>
                <a:latin typeface="Aptos"/>
              </a:defRPr>
            </a:pPr>
            <a:r>
              <a:t>Write result 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337560"/>
            <a:ext cx="5257800" cy="1417320"/>
          </a:xfrm>
          <a:prstGeom prst="round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3337560"/>
            <a:ext cx="64008" cy="1417320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3474720"/>
            <a:ext cx="4910328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36D3DC"/>
                </a:solidFill>
                <a:latin typeface="Aptos"/>
              </a:defRPr>
            </a:pPr>
            <a:r>
              <a:t>Example: ADD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3867911"/>
            <a:ext cx="4910328" cy="7955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add x3, x1, x2</a:t>
            </a:r>
          </a:p>
          <a:p>
            <a:pPr>
              <a:spcAft>
                <a:spcPts val="500"/>
              </a:spcAft>
              <a:defRPr sz="1600" b="0">
                <a:solidFill>
                  <a:srgbClr val="F2F6FC"/>
                </a:solidFill>
                <a:latin typeface="Aptos"/>
              </a:defRPr>
            </a:pPr>
            <a:r>
              <a:t>If x1 = 10 and x2 = 3, then x3 = 13.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337560"/>
            <a:ext cx="5257800" cy="1417320"/>
          </a:xfrm>
          <a:prstGeom prst="round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3337560"/>
            <a:ext cx="64008" cy="1417320"/>
          </a:xfrm>
          <a:prstGeom prst="rect">
            <a:avLst/>
          </a:prstGeom>
          <a:solidFill>
            <a:srgbClr val="FFC15C"/>
          </a:solidFill>
          <a:ln>
            <a:solidFill>
              <a:srgbClr val="FFC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19088" y="3474720"/>
            <a:ext cx="4910328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C15C"/>
                </a:solidFill>
                <a:latin typeface="Aptos"/>
              </a:defRPr>
            </a:pPr>
            <a:r>
              <a:t>Other ALU roles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3867911"/>
            <a:ext cx="4910328" cy="7955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Calculate load/store addresses and compare values for branch decisions. The 4-bit design is a learning model; common RISC-V implementations use 32-bit datapaths.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303520"/>
            <a:ext cx="1060704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BED3"/>
                </a:solidFill>
                <a:latin typeface="Aptos"/>
              </a:defRPr>
            </a:pPr>
            <a:r>
              <a:t>Note: this slide shows the classic five-stage instruction path for explanation. A single-cycle implementation completes an instruction in one clock cycle rather than using five separate pipeline stages.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36D3DC"/>
                </a:solidFill>
                <a:latin typeface="Aptos"/>
              </a:defRPr>
            </a:pPr>
            <a:r>
              <a:t>05–06 · CO5 + CO6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1556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2F6FC"/>
                </a:solidFill>
                <a:latin typeface="Aptos"/>
              </a:defRPr>
            </a:pPr>
            <a:r>
              <a:t>Single-cycle processor and architectural extensions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BED3"/>
                </a:solidFill>
                <a:latin typeface="Aptos"/>
              </a:defRPr>
            </a:pPr>
            <a:r>
              <a:t>A simplified datapath connects instruction control, the ALU, registers, memory, and peripherals.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B1BED3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874519" cy="91440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856231"/>
            <a:ext cx="173736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36D3DC"/>
                </a:solidFill>
                <a:latin typeface="Aptos"/>
              </a:defRPr>
            </a:pPr>
            <a:r>
              <a:t>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194560"/>
            <a:ext cx="17373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6FC"/>
                </a:solidFill>
                <a:latin typeface="Aptos"/>
              </a:defRPr>
            </a:pPr>
            <a:r>
              <a:t>Instruction address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737360"/>
            <a:ext cx="1874519" cy="91440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16352" y="1856231"/>
            <a:ext cx="173736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36D3DC"/>
                </a:solidFill>
                <a:latin typeface="Aptos"/>
              </a:defRPr>
            </a:pPr>
            <a:r>
              <a:t>Instruction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6352" y="2194560"/>
            <a:ext cx="17373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6FC"/>
                </a:solidFill>
                <a:latin typeface="Aptos"/>
              </a:defRPr>
            </a:pPr>
            <a:r>
              <a:t>Fetch instruction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737360"/>
            <a:ext cx="1874519" cy="91440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10912" y="1856231"/>
            <a:ext cx="173736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36D3DC"/>
                </a:solidFill>
                <a:latin typeface="Aptos"/>
              </a:defRPr>
            </a:pPr>
            <a:r>
              <a:t>Control unit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912" y="2194560"/>
            <a:ext cx="17373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6FC"/>
                </a:solidFill>
                <a:latin typeface="Aptos"/>
              </a:defRPr>
            </a:pPr>
            <a:r>
              <a:t>Generate control signals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737360"/>
            <a:ext cx="1874519" cy="91440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05472" y="1856231"/>
            <a:ext cx="173736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36D3DC"/>
                </a:solidFill>
                <a:latin typeface="Aptos"/>
              </a:defRPr>
            </a:pPr>
            <a:r>
              <a:t>Register 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5472" y="2194560"/>
            <a:ext cx="17373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6FC"/>
                </a:solidFill>
                <a:latin typeface="Aptos"/>
              </a:defRPr>
            </a:pPr>
            <a:r>
              <a:t>Read / write operands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3383280"/>
            <a:ext cx="1874519" cy="91440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05472" y="3502152"/>
            <a:ext cx="173736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36D3DC"/>
                </a:solidFill>
                <a:latin typeface="Aptos"/>
              </a:defRPr>
            </a:pPr>
            <a:r>
              <a:t>ALU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3840480"/>
            <a:ext cx="17373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6FC"/>
                </a:solidFill>
                <a:latin typeface="Aptos"/>
              </a:defRPr>
            </a:pPr>
            <a:r>
              <a:t>Execute / address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3383280"/>
            <a:ext cx="1874519" cy="91440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10912" y="3502152"/>
            <a:ext cx="173736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36D3DC"/>
                </a:solidFill>
                <a:latin typeface="Aptos"/>
              </a:defRPr>
            </a:pPr>
            <a:r>
              <a:t>Data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0912" y="3840480"/>
            <a:ext cx="17373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6FC"/>
                </a:solidFill>
                <a:latin typeface="Aptos"/>
              </a:defRPr>
            </a:pPr>
            <a:r>
              <a:t>Load / store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3383280"/>
            <a:ext cx="1874519" cy="914400"/>
          </a:xfrm>
          <a:prstGeom prst="round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2816352" y="3502152"/>
            <a:ext cx="173736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36D3DC"/>
                </a:solidFill>
                <a:latin typeface="Aptos"/>
              </a:defRPr>
            </a:pPr>
            <a:r>
              <a:t>Write-back MUX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1779" y="3831336"/>
            <a:ext cx="17373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F2F6FC"/>
                </a:solidFill>
                <a:latin typeface="Aptos"/>
              </a:defRPr>
            </a:pPr>
            <a:r>
              <a:t>Choose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04872" y="2057400"/>
            <a:ext cx="2743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C1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2057400"/>
            <a:ext cx="2743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C1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 rot="16200000">
            <a:off x="6789419" y="2154967"/>
            <a:ext cx="2743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C15C"/>
                </a:solidFill>
                <a:latin typeface="Aptos"/>
              </a:defRPr>
            </a:pPr>
            <a:r>
              <a:rPr dirty="0"/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 rot="16200000">
            <a:off x="7818119" y="2912363"/>
            <a:ext cx="2743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C15C"/>
                </a:solidFill>
                <a:latin typeface="Aptos"/>
              </a:defRPr>
            </a:pPr>
            <a:r>
              <a:rPr dirty="0"/>
              <a:t>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21424" y="3589020"/>
            <a:ext cx="2743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C15C"/>
                </a:solidFill>
                <a:latin typeface="Aptos"/>
              </a:defRPr>
            </a:pPr>
            <a:r>
              <a:rPr dirty="0"/>
              <a:t>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0501" y="3611880"/>
            <a:ext cx="2743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C15C"/>
                </a:solidFill>
                <a:latin typeface="Aptos"/>
              </a:defRPr>
            </a:pPr>
            <a:r>
              <a:rPr dirty="0"/>
              <a:t>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892040"/>
            <a:ext cx="10789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36D3DC"/>
                </a:solidFill>
                <a:latin typeface="Aptos"/>
              </a:defRPr>
            </a:pPr>
            <a:r>
              <a:t>Possible extensions (CO6)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257800"/>
            <a:ext cx="10789920" cy="9144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2F6FC"/>
                </a:solidFill>
                <a:latin typeface="Aptos"/>
              </a:defRPr>
            </a:pPr>
            <a:r>
              <a:t>•  Add XOR, shifts, flag logic, wider datapaths, and interfaces to timers, sensors, or other peripherals.</a:t>
            </a:r>
          </a:p>
          <a:p>
            <a:pPr>
              <a:spcAft>
                <a:spcPts val="300"/>
              </a:spcAft>
              <a:defRPr sz="1300">
                <a:solidFill>
                  <a:srgbClr val="F2F6FC"/>
                </a:solidFill>
                <a:latin typeface="Aptos"/>
              </a:defRPr>
            </a:pPr>
            <a:r>
              <a:t>•  A single-cycle design completes each instruction in one cycle; the clock period must cover the slowest instruction path.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36D3DC"/>
                </a:solidFill>
                <a:latin typeface="Aptos"/>
              </a:defRPr>
            </a:pPr>
            <a:r>
              <a:t>06 · CO6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1556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2F6FC"/>
                </a:solidFill>
                <a:latin typeface="Aptos"/>
              </a:defRPr>
            </a:pPr>
            <a:r>
              <a:t>Simulation, verification and project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BED3"/>
                </a:solidFill>
                <a:latin typeface="Aptos"/>
              </a:defRPr>
            </a:pPr>
            <a:r>
              <a:t>Test the expected result of each operation before integrating the ALU into a processor.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B1BED3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737360"/>
            <a:ext cx="2194560" cy="548640"/>
          </a:xfrm>
          <a:prstGeom prst="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19656"/>
            <a:ext cx="21031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36D3DC"/>
                </a:solidFill>
                <a:latin typeface="Aptos"/>
              </a:defRPr>
            </a:pPr>
            <a:r>
              <a:t>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27832" y="1737360"/>
            <a:ext cx="1828800" cy="548640"/>
          </a:xfrm>
          <a:prstGeom prst="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73552" y="1819656"/>
            <a:ext cx="173736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36D3DC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9784" y="1737360"/>
            <a:ext cx="1828800" cy="548640"/>
          </a:xfrm>
          <a:prstGeom prst="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75504" y="1819656"/>
            <a:ext cx="173736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36D3DC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31736" y="1737360"/>
            <a:ext cx="2468880" cy="548640"/>
          </a:xfrm>
          <a:prstGeom prst="rect">
            <a:avLst/>
          </a:prstGeom>
          <a:solidFill>
            <a:srgbClr val="1F2A40"/>
          </a:solidFill>
          <a:ln>
            <a:solidFill>
              <a:srgbClr val="1F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77456" y="1819656"/>
            <a:ext cx="237744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36D3DC"/>
                </a:solidFill>
                <a:latin typeface="Aptos"/>
              </a:defRPr>
            </a:pPr>
            <a:r>
              <a:t>Expected 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2359152"/>
            <a:ext cx="2194560" cy="548640"/>
          </a:xfrm>
          <a:prstGeom prst="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2441448"/>
            <a:ext cx="21031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27832" y="2359152"/>
            <a:ext cx="1828800" cy="548640"/>
          </a:xfrm>
          <a:prstGeom prst="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73552" y="2441448"/>
            <a:ext cx="173736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1010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9784" y="2359152"/>
            <a:ext cx="1828800" cy="548640"/>
          </a:xfrm>
          <a:prstGeom prst="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75504" y="2441448"/>
            <a:ext cx="173736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0011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31736" y="2359152"/>
            <a:ext cx="2468880" cy="548640"/>
          </a:xfrm>
          <a:prstGeom prst="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77456" y="2441448"/>
            <a:ext cx="237744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0010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2980944"/>
            <a:ext cx="2194560" cy="548640"/>
          </a:xfrm>
          <a:prstGeom prst="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063239"/>
            <a:ext cx="21031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27832" y="2980944"/>
            <a:ext cx="1828800" cy="548640"/>
          </a:xfrm>
          <a:prstGeom prst="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73552" y="3063239"/>
            <a:ext cx="173736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1010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9784" y="2980944"/>
            <a:ext cx="1828800" cy="548640"/>
          </a:xfrm>
          <a:prstGeom prst="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75504" y="3063239"/>
            <a:ext cx="173736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0011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31736" y="2980944"/>
            <a:ext cx="2468880" cy="548640"/>
          </a:xfrm>
          <a:prstGeom prst="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77456" y="3063239"/>
            <a:ext cx="237744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1011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3602736"/>
            <a:ext cx="2194560" cy="548640"/>
          </a:xfrm>
          <a:prstGeom prst="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3685032"/>
            <a:ext cx="21031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ADD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27832" y="3602736"/>
            <a:ext cx="1828800" cy="548640"/>
          </a:xfrm>
          <a:prstGeom prst="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73552" y="3685032"/>
            <a:ext cx="173736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1010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9784" y="3602736"/>
            <a:ext cx="1828800" cy="548640"/>
          </a:xfrm>
          <a:prstGeom prst="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75504" y="3685032"/>
            <a:ext cx="173736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0011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31736" y="3602736"/>
            <a:ext cx="2468880" cy="548640"/>
          </a:xfrm>
          <a:prstGeom prst="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77456" y="3685032"/>
            <a:ext cx="237744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1101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" y="4224528"/>
            <a:ext cx="2194560" cy="548640"/>
          </a:xfrm>
          <a:prstGeom prst="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5840" y="4306824"/>
            <a:ext cx="21031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SUB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27832" y="4224528"/>
            <a:ext cx="1828800" cy="548640"/>
          </a:xfrm>
          <a:prstGeom prst="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73552" y="4306824"/>
            <a:ext cx="173736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1010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9784" y="4224528"/>
            <a:ext cx="1828800" cy="548640"/>
          </a:xfrm>
          <a:prstGeom prst="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75504" y="4306824"/>
            <a:ext cx="173736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0011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31736" y="4224528"/>
            <a:ext cx="2468880" cy="548640"/>
          </a:xfrm>
          <a:prstGeom prst="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77456" y="4306824"/>
            <a:ext cx="237744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0111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" y="5166360"/>
            <a:ext cx="5166360" cy="868680"/>
          </a:xfrm>
          <a:prstGeom prst="round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77240" y="5166360"/>
            <a:ext cx="64008" cy="868680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78408" y="5208592"/>
            <a:ext cx="4818888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36D3DC"/>
                </a:solidFill>
                <a:latin typeface="Aptos"/>
              </a:defRPr>
            </a:pPr>
            <a:r>
              <a:rPr dirty="0"/>
              <a:t>How to verify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" y="5541265"/>
            <a:ext cx="4818888" cy="24688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2F6FC"/>
                </a:solidFill>
                <a:latin typeface="Aptos"/>
              </a:defRPr>
            </a:pPr>
            <a:r>
              <a:rPr dirty="0"/>
              <a:t>Build in Logisim Evolution; test every select code and compare outputs.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5166360"/>
            <a:ext cx="5166360" cy="868680"/>
          </a:xfrm>
          <a:prstGeom prst="roundRect">
            <a:avLst/>
          </a:prstGeom>
          <a:solidFill>
            <a:srgbClr val="181F31"/>
          </a:solidFill>
          <a:ln>
            <a:solidFill>
              <a:srgbClr val="18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17920" y="5166360"/>
            <a:ext cx="64008" cy="868680"/>
          </a:xfrm>
          <a:prstGeom prst="rect">
            <a:avLst/>
          </a:prstGeom>
          <a:solidFill>
            <a:srgbClr val="69DCA0"/>
          </a:solidFill>
          <a:ln>
            <a:solidFill>
              <a:srgbClr val="69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19088" y="5257800"/>
            <a:ext cx="4818888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69DCA0"/>
                </a:solidFill>
                <a:latin typeface="Aptos"/>
              </a:defRPr>
            </a:pPr>
            <a:r>
              <a:rPr dirty="0"/>
              <a:t>Project extension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9088" y="5600700"/>
            <a:ext cx="4818888" cy="24688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2F6FC"/>
                </a:solidFill>
                <a:latin typeface="Aptos"/>
              </a:defRPr>
            </a:pPr>
            <a:r>
              <a:rPr dirty="0"/>
              <a:t>Connect registers, control signals, and a simple peripheral interface; document test cases and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6D3DC"/>
          </a:solidFill>
          <a:ln>
            <a:solidFill>
              <a:srgbClr val="36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29640" y="3017520"/>
            <a:ext cx="103327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4000" b="1">
                <a:solidFill>
                  <a:srgbClr val="F2F6FC"/>
                </a:solidFill>
                <a:latin typeface="Aptos"/>
              </a:defRPr>
            </a:pPr>
            <a:r>
              <a:rPr dirty="0"/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9640" y="3724059"/>
            <a:ext cx="103327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36D3DC"/>
                </a:solidFill>
                <a:latin typeface="Aptos"/>
              </a:defRPr>
            </a:pPr>
            <a:r>
              <a:rPr dirty="0"/>
              <a:t>Questions &amp; Discussion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97880"/>
            <a:ext cx="103327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B1BED3"/>
                </a:solidFill>
                <a:latin typeface="Aptos"/>
              </a:defRPr>
            </a:pPr>
            <a:r>
              <a:t>4-Bit ALU Architecture and Components  ·  CO1–CO6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913</Words>
  <Application>Microsoft Office PowerPoint</Application>
  <PresentationFormat>Widescreen</PresentationFormat>
  <Paragraphs>216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bhavya</dc:creator>
  <cp:keywords/>
  <dc:description>generated using python-pptx</dc:description>
  <cp:lastModifiedBy>siriraj419@outlook.com</cp:lastModifiedBy>
  <cp:revision>2</cp:revision>
  <dcterms:created xsi:type="dcterms:W3CDTF">2013-01-27T09:14:16Z</dcterms:created>
  <dcterms:modified xsi:type="dcterms:W3CDTF">2026-10-15T06:10:58Z</dcterms:modified>
  <cp:category/>
</cp:coreProperties>
</file>